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3694" y="1855051"/>
            <a:ext cx="9144000" cy="2387600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487546-F1C9-FD40-B19A-04E93509F0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96788" y="5501194"/>
            <a:ext cx="2997812" cy="86390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B48F46-0D63-CE4B-A877-5D1339DE3A3D}"/>
              </a:ext>
            </a:extLst>
          </p:cNvPr>
          <p:cNvCxnSpPr>
            <a:cxnSpLocks/>
          </p:cNvCxnSpPr>
          <p:nvPr userDrawn="1"/>
        </p:nvCxnSpPr>
        <p:spPr>
          <a:xfrm>
            <a:off x="945777" y="4813307"/>
            <a:ext cx="10246658" cy="0"/>
          </a:xfrm>
          <a:prstGeom prst="line">
            <a:avLst/>
          </a:prstGeom>
          <a:ln w="88900" cap="sq">
            <a:solidFill>
              <a:schemeClr val="bg1"/>
            </a:solidFill>
            <a:rou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60A341-6CF2-8240-AD81-0EAA0B5D75E7}"/>
              </a:ext>
            </a:extLst>
          </p:cNvPr>
          <p:cNvCxnSpPr>
            <a:cxnSpLocks/>
          </p:cNvCxnSpPr>
          <p:nvPr userDrawn="1"/>
        </p:nvCxnSpPr>
        <p:spPr>
          <a:xfrm>
            <a:off x="945776" y="1386732"/>
            <a:ext cx="10246658" cy="0"/>
          </a:xfrm>
          <a:prstGeom prst="line">
            <a:avLst/>
          </a:prstGeom>
          <a:ln w="88900" cap="sq">
            <a:solidFill>
              <a:schemeClr val="bg1"/>
            </a:solidFill>
            <a:rou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945776" y="918414"/>
            <a:ext cx="4502150" cy="303849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 hasCustomPrompt="1"/>
          </p:nvPr>
        </p:nvSpPr>
        <p:spPr>
          <a:xfrm>
            <a:off x="9903628" y="988100"/>
            <a:ext cx="1288806" cy="2962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64563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3694" y="1855051"/>
            <a:ext cx="9144000" cy="2387600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487546-F1C9-FD40-B19A-04E93509F0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96788" y="5501194"/>
            <a:ext cx="2997812" cy="86390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B48F46-0D63-CE4B-A877-5D1339DE3A3D}"/>
              </a:ext>
            </a:extLst>
          </p:cNvPr>
          <p:cNvCxnSpPr>
            <a:cxnSpLocks/>
          </p:cNvCxnSpPr>
          <p:nvPr userDrawn="1"/>
        </p:nvCxnSpPr>
        <p:spPr>
          <a:xfrm>
            <a:off x="945777" y="4813307"/>
            <a:ext cx="10246658" cy="0"/>
          </a:xfrm>
          <a:prstGeom prst="line">
            <a:avLst/>
          </a:prstGeom>
          <a:ln w="88900" cap="sq">
            <a:solidFill>
              <a:schemeClr val="bg1"/>
            </a:solidFill>
            <a:rou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60A341-6CF2-8240-AD81-0EAA0B5D75E7}"/>
              </a:ext>
            </a:extLst>
          </p:cNvPr>
          <p:cNvCxnSpPr>
            <a:cxnSpLocks/>
          </p:cNvCxnSpPr>
          <p:nvPr userDrawn="1"/>
        </p:nvCxnSpPr>
        <p:spPr>
          <a:xfrm>
            <a:off x="945776" y="1386732"/>
            <a:ext cx="10246658" cy="0"/>
          </a:xfrm>
          <a:prstGeom prst="line">
            <a:avLst/>
          </a:prstGeom>
          <a:ln w="88900" cap="sq">
            <a:solidFill>
              <a:schemeClr val="bg1"/>
            </a:solidFill>
            <a:rou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945776" y="918414"/>
            <a:ext cx="4502150" cy="303849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 hasCustomPrompt="1"/>
          </p:nvPr>
        </p:nvSpPr>
        <p:spPr>
          <a:xfrm>
            <a:off x="9903628" y="988100"/>
            <a:ext cx="1288806" cy="2962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80924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973" y="365126"/>
            <a:ext cx="10927827" cy="1070396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6368"/>
            <a:ext cx="10515600" cy="4060913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973" y="6356350"/>
            <a:ext cx="4380489" cy="3258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NAME l 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6407" y="6298375"/>
            <a:ext cx="474785" cy="325804"/>
          </a:xfrm>
          <a:prstGeom prst="rect">
            <a:avLst/>
          </a:prstGeom>
        </p:spPr>
        <p:txBody>
          <a:bodyPr/>
          <a:lstStyle/>
          <a:p>
            <a:fld id="{0D83D62C-1E25-4909-9E88-28329C264CE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171882-E30F-2E4B-B15E-61D0334E3F3A}"/>
              </a:ext>
            </a:extLst>
          </p:cNvPr>
          <p:cNvCxnSpPr>
            <a:cxnSpLocks/>
          </p:cNvCxnSpPr>
          <p:nvPr userDrawn="1"/>
        </p:nvCxnSpPr>
        <p:spPr>
          <a:xfrm flipV="1">
            <a:off x="461141" y="1688123"/>
            <a:ext cx="11261936" cy="75643"/>
          </a:xfrm>
          <a:prstGeom prst="line">
            <a:avLst/>
          </a:prstGeom>
          <a:ln w="38100">
            <a:solidFill>
              <a:schemeClr val="tx1">
                <a:alpha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171882-E30F-2E4B-B15E-61D0334E3F3A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973" y="6201507"/>
            <a:ext cx="11261936" cy="75643"/>
          </a:xfrm>
          <a:prstGeom prst="line">
            <a:avLst/>
          </a:prstGeom>
          <a:ln w="38100">
            <a:solidFill>
              <a:schemeClr val="tx1">
                <a:alpha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26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3941" y="364915"/>
            <a:ext cx="5218741" cy="1070396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973" y="2140594"/>
            <a:ext cx="5630968" cy="4060913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973" y="6392219"/>
            <a:ext cx="3968262" cy="3258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NAME l 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48903" y="6388435"/>
            <a:ext cx="474785" cy="325804"/>
          </a:xfrm>
          <a:prstGeom prst="rect">
            <a:avLst/>
          </a:prstGeom>
        </p:spPr>
        <p:txBody>
          <a:bodyPr/>
          <a:lstStyle/>
          <a:p>
            <a:fld id="{0D83D62C-1E25-4909-9E88-28329C264CE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171882-E30F-2E4B-B15E-61D0334E3F3A}"/>
              </a:ext>
            </a:extLst>
          </p:cNvPr>
          <p:cNvCxnSpPr>
            <a:cxnSpLocks/>
          </p:cNvCxnSpPr>
          <p:nvPr userDrawn="1"/>
        </p:nvCxnSpPr>
        <p:spPr>
          <a:xfrm>
            <a:off x="425973" y="1779296"/>
            <a:ext cx="5637943" cy="1378"/>
          </a:xfrm>
          <a:prstGeom prst="line">
            <a:avLst/>
          </a:prstGeom>
          <a:ln w="38100">
            <a:solidFill>
              <a:schemeClr val="tx1">
                <a:alpha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171882-E30F-2E4B-B15E-61D0334E3F3A}"/>
              </a:ext>
            </a:extLst>
          </p:cNvPr>
          <p:cNvCxnSpPr>
            <a:cxnSpLocks/>
          </p:cNvCxnSpPr>
          <p:nvPr userDrawn="1"/>
        </p:nvCxnSpPr>
        <p:spPr>
          <a:xfrm>
            <a:off x="425973" y="6277151"/>
            <a:ext cx="11297715" cy="39424"/>
          </a:xfrm>
          <a:prstGeom prst="line">
            <a:avLst/>
          </a:prstGeom>
          <a:ln w="38100">
            <a:solidFill>
              <a:schemeClr val="tx1">
                <a:alpha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able Placeholder 7"/>
          <p:cNvSpPr>
            <a:spLocks noGrp="1"/>
          </p:cNvSpPr>
          <p:nvPr>
            <p:ph type="tbl" sz="quarter" idx="13"/>
          </p:nvPr>
        </p:nvSpPr>
        <p:spPr>
          <a:xfrm>
            <a:off x="6753225" y="900113"/>
            <a:ext cx="4970463" cy="530139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8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09901" y="364915"/>
            <a:ext cx="5218741" cy="1070396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9901" y="2044342"/>
            <a:ext cx="5301983" cy="4060913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21933" y="6392219"/>
            <a:ext cx="3968262" cy="3258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NAME l 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37099" y="6388482"/>
            <a:ext cx="474785" cy="325804"/>
          </a:xfrm>
          <a:prstGeom prst="rect">
            <a:avLst/>
          </a:prstGeom>
        </p:spPr>
        <p:txBody>
          <a:bodyPr/>
          <a:lstStyle/>
          <a:p>
            <a:fld id="{0D83D62C-1E25-4909-9E88-28329C264C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171882-E30F-2E4B-B15E-61D0334E3F3A}"/>
              </a:ext>
            </a:extLst>
          </p:cNvPr>
          <p:cNvCxnSpPr>
            <a:cxnSpLocks/>
          </p:cNvCxnSpPr>
          <p:nvPr userDrawn="1"/>
        </p:nvCxnSpPr>
        <p:spPr>
          <a:xfrm>
            <a:off x="6521933" y="6224337"/>
            <a:ext cx="5297971" cy="0"/>
          </a:xfrm>
          <a:prstGeom prst="line">
            <a:avLst/>
          </a:prstGeom>
          <a:ln w="38100">
            <a:solidFill>
              <a:schemeClr val="tx1">
                <a:alpha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297031" y="6693235"/>
            <a:ext cx="474785" cy="32580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171882-E30F-2E4B-B15E-61D0334E3F3A}"/>
              </a:ext>
            </a:extLst>
          </p:cNvPr>
          <p:cNvCxnSpPr>
            <a:cxnSpLocks/>
          </p:cNvCxnSpPr>
          <p:nvPr userDrawn="1"/>
        </p:nvCxnSpPr>
        <p:spPr>
          <a:xfrm>
            <a:off x="6513913" y="1756611"/>
            <a:ext cx="5297971" cy="0"/>
          </a:xfrm>
          <a:prstGeom prst="line">
            <a:avLst/>
          </a:prstGeom>
          <a:ln w="38100">
            <a:solidFill>
              <a:schemeClr val="tx1">
                <a:alpha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4FBCB88-9116-104F-8BA7-489D8990FE97}"/>
              </a:ext>
            </a:extLst>
          </p:cNvPr>
          <p:cNvSpPr/>
          <p:nvPr userDrawn="1"/>
        </p:nvSpPr>
        <p:spPr>
          <a:xfrm>
            <a:off x="-31530" y="0"/>
            <a:ext cx="608755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780591" y="2261873"/>
            <a:ext cx="1941512" cy="18129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1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3941" y="364915"/>
            <a:ext cx="5218741" cy="1070396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41" y="2044342"/>
            <a:ext cx="5301983" cy="4060913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973" y="6392219"/>
            <a:ext cx="3968262" cy="3258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NAME l 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241139" y="6388482"/>
            <a:ext cx="474785" cy="325804"/>
          </a:xfrm>
          <a:prstGeom prst="rect">
            <a:avLst/>
          </a:prstGeom>
        </p:spPr>
        <p:txBody>
          <a:bodyPr/>
          <a:lstStyle/>
          <a:p>
            <a:fld id="{0D83D62C-1E25-4909-9E88-28329C264C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171882-E30F-2E4B-B15E-61D0334E3F3A}"/>
              </a:ext>
            </a:extLst>
          </p:cNvPr>
          <p:cNvCxnSpPr>
            <a:cxnSpLocks/>
          </p:cNvCxnSpPr>
          <p:nvPr userDrawn="1"/>
        </p:nvCxnSpPr>
        <p:spPr>
          <a:xfrm>
            <a:off x="425973" y="6224337"/>
            <a:ext cx="5297971" cy="0"/>
          </a:xfrm>
          <a:prstGeom prst="line">
            <a:avLst/>
          </a:prstGeom>
          <a:ln w="38100">
            <a:solidFill>
              <a:schemeClr val="tx1">
                <a:alpha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553703" y="6693235"/>
            <a:ext cx="474785" cy="32580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369050" y="0"/>
            <a:ext cx="5822950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88C1D9-12DC-5A44-8F90-E7314F68B7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27530" y="0"/>
            <a:ext cx="6096000" cy="68580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171882-E30F-2E4B-B15E-61D0334E3F3A}"/>
              </a:ext>
            </a:extLst>
          </p:cNvPr>
          <p:cNvCxnSpPr>
            <a:cxnSpLocks/>
          </p:cNvCxnSpPr>
          <p:nvPr userDrawn="1"/>
        </p:nvCxnSpPr>
        <p:spPr>
          <a:xfrm>
            <a:off x="417953" y="1756611"/>
            <a:ext cx="5297971" cy="0"/>
          </a:xfrm>
          <a:prstGeom prst="line">
            <a:avLst/>
          </a:prstGeom>
          <a:ln w="38100">
            <a:solidFill>
              <a:schemeClr val="tx1">
                <a:alpha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25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3941" y="364915"/>
            <a:ext cx="11309747" cy="1070396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973" y="6392219"/>
            <a:ext cx="3968262" cy="3258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NAME l 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48903" y="6388435"/>
            <a:ext cx="474785" cy="325804"/>
          </a:xfrm>
          <a:prstGeom prst="rect">
            <a:avLst/>
          </a:prstGeom>
        </p:spPr>
        <p:txBody>
          <a:bodyPr/>
          <a:lstStyle/>
          <a:p>
            <a:fld id="{0D83D62C-1E25-4909-9E88-28329C264C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171882-E30F-2E4B-B15E-61D0334E3F3A}"/>
              </a:ext>
            </a:extLst>
          </p:cNvPr>
          <p:cNvCxnSpPr>
            <a:cxnSpLocks/>
          </p:cNvCxnSpPr>
          <p:nvPr userDrawn="1"/>
        </p:nvCxnSpPr>
        <p:spPr>
          <a:xfrm>
            <a:off x="425973" y="6277151"/>
            <a:ext cx="11297715" cy="39424"/>
          </a:xfrm>
          <a:prstGeom prst="line">
            <a:avLst/>
          </a:prstGeom>
          <a:ln w="38100">
            <a:solidFill>
              <a:schemeClr val="tx1">
                <a:alpha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able Placeholder 7"/>
          <p:cNvSpPr>
            <a:spLocks noGrp="1"/>
          </p:cNvSpPr>
          <p:nvPr>
            <p:ph type="tbl" sz="quarter" idx="13"/>
          </p:nvPr>
        </p:nvSpPr>
        <p:spPr>
          <a:xfrm>
            <a:off x="413941" y="1659571"/>
            <a:ext cx="11309747" cy="454193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43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973" y="802106"/>
            <a:ext cx="11309747" cy="5069305"/>
          </a:xfrm>
        </p:spPr>
        <p:txBody>
          <a:bodyPr>
            <a:normAutofit/>
          </a:bodyPr>
          <a:lstStyle>
            <a:lvl1pPr algn="ctr">
              <a:defRPr sz="8800"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Large Text Only Slide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973" y="6392219"/>
            <a:ext cx="3968262" cy="3258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l 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48903" y="6388435"/>
            <a:ext cx="474785" cy="32580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D83D62C-1E25-4909-9E88-28329C264C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171882-E30F-2E4B-B15E-61D0334E3F3A}"/>
              </a:ext>
            </a:extLst>
          </p:cNvPr>
          <p:cNvCxnSpPr>
            <a:cxnSpLocks/>
          </p:cNvCxnSpPr>
          <p:nvPr userDrawn="1"/>
        </p:nvCxnSpPr>
        <p:spPr>
          <a:xfrm>
            <a:off x="425973" y="6180899"/>
            <a:ext cx="11297715" cy="3942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340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73689" y="2298104"/>
            <a:ext cx="8190246" cy="2193755"/>
          </a:xfrm>
        </p:spPr>
        <p:txBody>
          <a:bodyPr>
            <a:normAutofit/>
          </a:bodyPr>
          <a:lstStyle>
            <a:lvl1pPr algn="ctr">
              <a:defRPr sz="6600"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Slide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A195D7-6644-0941-B6CE-6E3B2EDF9BE6}"/>
              </a:ext>
            </a:extLst>
          </p:cNvPr>
          <p:cNvCxnSpPr>
            <a:cxnSpLocks/>
          </p:cNvCxnSpPr>
          <p:nvPr userDrawn="1"/>
        </p:nvCxnSpPr>
        <p:spPr>
          <a:xfrm>
            <a:off x="2013974" y="1860592"/>
            <a:ext cx="8109679" cy="0"/>
          </a:xfrm>
          <a:prstGeom prst="line">
            <a:avLst/>
          </a:prstGeom>
          <a:ln w="104775">
            <a:solidFill>
              <a:schemeClr val="bg1">
                <a:alpha val="6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818F22-72C5-CE4D-99AC-08AD6D01FBD4}"/>
              </a:ext>
            </a:extLst>
          </p:cNvPr>
          <p:cNvCxnSpPr>
            <a:cxnSpLocks/>
          </p:cNvCxnSpPr>
          <p:nvPr userDrawn="1"/>
        </p:nvCxnSpPr>
        <p:spPr>
          <a:xfrm>
            <a:off x="2013973" y="4929370"/>
            <a:ext cx="8109679" cy="0"/>
          </a:xfrm>
          <a:prstGeom prst="line">
            <a:avLst/>
          </a:prstGeom>
          <a:ln w="104775">
            <a:solidFill>
              <a:schemeClr val="bg1">
                <a:alpha val="6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727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A481CD-40FA-8C4F-9B31-030AF3E552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804" y="0"/>
            <a:ext cx="121793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973" y="802106"/>
            <a:ext cx="11309747" cy="5069305"/>
          </a:xfrm>
        </p:spPr>
        <p:txBody>
          <a:bodyPr>
            <a:normAutofit/>
          </a:bodyPr>
          <a:lstStyle>
            <a:lvl1pPr algn="ctr">
              <a:defRPr sz="6600"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Large Text Only Slide</a:t>
            </a:r>
          </a:p>
        </p:txBody>
      </p:sp>
    </p:spTree>
    <p:extLst>
      <p:ext uri="{BB962C8B-B14F-4D97-AF65-F5344CB8AC3E}">
        <p14:creationId xmlns:p14="http://schemas.microsoft.com/office/powerpoint/2010/main" val="2690660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96114D-C212-7D4D-8CB9-D9F1B2C8B2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5904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3A17DB-C750-6C48-BD9E-81BAED07A994}"/>
              </a:ext>
            </a:extLst>
          </p:cNvPr>
          <p:cNvSpPr/>
          <p:nvPr userDrawn="1"/>
        </p:nvSpPr>
        <p:spPr>
          <a:xfrm>
            <a:off x="2811185" y="2494127"/>
            <a:ext cx="6858388" cy="175745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1186" y="2735179"/>
            <a:ext cx="6858388" cy="1387642"/>
          </a:xfrm>
        </p:spPr>
        <p:txBody>
          <a:bodyPr>
            <a:normAutofit/>
          </a:bodyPr>
          <a:lstStyle>
            <a:lvl1pPr algn="ctr">
              <a:defRPr sz="4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Page Break Slide</a:t>
            </a:r>
          </a:p>
        </p:txBody>
      </p:sp>
    </p:spTree>
    <p:extLst>
      <p:ext uri="{BB962C8B-B14F-4D97-AF65-F5344CB8AC3E}">
        <p14:creationId xmlns:p14="http://schemas.microsoft.com/office/powerpoint/2010/main" val="2943821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782620"/>
            <a:ext cx="11216640" cy="757255"/>
          </a:xfrm>
        </p:spPr>
        <p:txBody>
          <a:bodyPr>
            <a:noAutofit/>
          </a:bodyPr>
          <a:lstStyle>
            <a:lvl1pPr marL="0" indent="0">
              <a:buNone/>
              <a:defRPr sz="1941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87680" y="295683"/>
            <a:ext cx="1121664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0" y="87467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22111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bg1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4306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84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/>
          <p:cNvSpPr/>
          <p:nvPr/>
        </p:nvSpPr>
        <p:spPr>
          <a:xfrm>
            <a:off x="-16193" y="0"/>
            <a:ext cx="12208193" cy="878541"/>
          </a:xfrm>
          <a:prstGeom prst="flowChartProcess">
            <a:avLst/>
          </a:prstGeom>
          <a:solidFill>
            <a:srgbClr val="F8B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465474"/>
              </p:ext>
            </p:extLst>
          </p:nvPr>
        </p:nvGraphicFramePr>
        <p:xfrm>
          <a:off x="558071" y="1374938"/>
          <a:ext cx="11075857" cy="4949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303">
                  <a:extLst>
                    <a:ext uri="{9D8B030D-6E8A-4147-A177-3AD203B41FA5}">
                      <a16:colId xmlns:a16="http://schemas.microsoft.com/office/drawing/2014/main" val="252941413"/>
                    </a:ext>
                  </a:extLst>
                </a:gridCol>
                <a:gridCol w="3145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043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Open Sans"/>
                          <a:ea typeface="Open Sans"/>
                          <a:cs typeface="Open Sans"/>
                        </a:rPr>
                        <a:t>Be</a:t>
                      </a:r>
                      <a:r>
                        <a:rPr lang="en-US" sz="1200" baseline="0" dirty="0">
                          <a:latin typeface="Open Sans"/>
                          <a:ea typeface="Open Sans"/>
                          <a:cs typeface="Open Sans"/>
                        </a:rPr>
                        <a:t> Prepared to Answer the Following:</a:t>
                      </a:r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Open Sans"/>
                          <a:ea typeface="Open Sans"/>
                          <a:cs typeface="Open Sans"/>
                        </a:rPr>
                        <a:t>Notes: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43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Do you know what is expected of you?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82809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What are your two most important recent outcomes / results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What support do you need to accomplish your goals?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9368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is the status of your goals?</a:t>
                      </a:r>
                    </a:p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On Track / Off Track?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How have you demonstrated the four Core Behaviors?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043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Development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do you enjoy most about your work?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759548"/>
                  </a:ext>
                </a:extLst>
              </a:tr>
              <a:tr h="357631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are your career aspirations?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73896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help do you need to meet your career goals?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31264"/>
                  </a:ext>
                </a:extLst>
              </a:tr>
              <a:tr h="26417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Additional Notes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05648"/>
                  </a:ext>
                </a:extLst>
              </a:tr>
              <a:tr h="708864">
                <a:tc gridSpan="3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1" kern="1200" dirty="0">
                        <a:solidFill>
                          <a:srgbClr val="575757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369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75834" y="150815"/>
            <a:ext cx="10635187" cy="651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4236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071" y="1009706"/>
            <a:ext cx="6060375" cy="2443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Employee Name: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523" y="6433498"/>
            <a:ext cx="1030895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this document to drive your quarterly check-in conversations each year. Best Practice is to complete the check-in in Workday by using the “Add Topic” feature. Alternatively, this template can be attached to the Workday Check-in or Annual Performance Review.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246" y="993375"/>
            <a:ext cx="3463378" cy="2443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buSzPct val="25000"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Check-in Date: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FE43D-A66E-40FB-77C4-716CBFACB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24" y="-58830"/>
            <a:ext cx="2365376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297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183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83F5F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239806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/>
          <p:cNvSpPr/>
          <p:nvPr/>
        </p:nvSpPr>
        <p:spPr>
          <a:xfrm>
            <a:off x="-16193" y="0"/>
            <a:ext cx="12208193" cy="878541"/>
          </a:xfrm>
          <a:prstGeom prst="flowChartProcess">
            <a:avLst/>
          </a:prstGeom>
          <a:solidFill>
            <a:srgbClr val="F8B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2353"/>
              </p:ext>
            </p:extLst>
          </p:nvPr>
        </p:nvGraphicFramePr>
        <p:xfrm>
          <a:off x="558071" y="1413520"/>
          <a:ext cx="11075857" cy="4040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04">
                  <a:extLst>
                    <a:ext uri="{9D8B030D-6E8A-4147-A177-3AD203B41FA5}">
                      <a16:colId xmlns:a16="http://schemas.microsoft.com/office/drawing/2014/main" val="252941413"/>
                    </a:ext>
                  </a:extLst>
                </a:gridCol>
                <a:gridCol w="314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043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Open Sans"/>
                          <a:ea typeface="Open Sans"/>
                          <a:cs typeface="Open Sans"/>
                        </a:rPr>
                        <a:t>Be</a:t>
                      </a:r>
                      <a:r>
                        <a:rPr lang="en-US" sz="1200" baseline="0" dirty="0">
                          <a:latin typeface="Open Sans"/>
                          <a:ea typeface="Open Sans"/>
                          <a:cs typeface="Open Sans"/>
                        </a:rPr>
                        <a:t> Prepared to Answer the Following:</a:t>
                      </a:r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Open Sans"/>
                          <a:ea typeface="Open Sans"/>
                          <a:cs typeface="Open Sans"/>
                        </a:rPr>
                        <a:t>Notes: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43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Do you know what is expected of you?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82809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What are your two most important recent outcomes / results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What support do you need to accomplish your goals?</a:t>
                      </a:r>
                      <a:endParaRPr lang="en-US"/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9368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is the status of your goals?</a:t>
                      </a:r>
                    </a:p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On Track / Off Track?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How have you demonstrated the four Core Behaviors?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latin typeface="Open Sans"/>
                          <a:ea typeface="Open Sans"/>
                          <a:cs typeface="Open Sans"/>
                        </a:rPr>
                        <a:t>I</a:t>
                      </a:r>
                      <a:endParaRPr lang="en-US" dirty="0"/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73896"/>
                  </a:ext>
                </a:extLst>
              </a:tr>
              <a:tr h="26417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Additional Notes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05648"/>
                  </a:ext>
                </a:extLst>
              </a:tr>
              <a:tr h="708864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 dirty="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369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75834" y="150815"/>
            <a:ext cx="10635187" cy="651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4236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071" y="1009706"/>
            <a:ext cx="6060375" cy="2443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buSzPct val="25000"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Employee Name:</a:t>
            </a:r>
            <a:r>
              <a:rPr lang="en-US" sz="1550" b="1" dirty="0">
                <a:solidFill>
                  <a:srgbClr val="003963"/>
                </a:solidFill>
                <a:latin typeface="Open Sans"/>
                <a:ea typeface="Open Sans"/>
                <a:cs typeface="Open Sans"/>
              </a:rPr>
              <a:t> </a:t>
            </a:r>
            <a:endParaRPr kumimoji="0" lang="en-US" sz="1588" b="1" i="0" u="none" strike="noStrike" kern="1200" cap="none" spc="0" normalizeH="0" baseline="0" noProof="0" dirty="0">
              <a:ln>
                <a:noFill/>
              </a:ln>
              <a:solidFill>
                <a:srgbClr val="00396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1523" y="6433498"/>
            <a:ext cx="1030895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this document to drive your quarterly check-in conversations each year. Best Practice is to complete the check-in in Workday by using the “Add Topic” feature. Alternatively, this template can be attached to the Workday Check-in or Annual Performance Review.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246" y="993375"/>
            <a:ext cx="3463378" cy="2443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buSzPct val="25000"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Check-in Date:</a:t>
            </a:r>
            <a:r>
              <a:rPr lang="en-US" sz="1550" b="1" dirty="0">
                <a:solidFill>
                  <a:srgbClr val="003963"/>
                </a:solidFill>
                <a:latin typeface="Open Sans"/>
                <a:ea typeface="Open Sans"/>
                <a:cs typeface="Open Sans"/>
              </a:rPr>
              <a:t> </a:t>
            </a:r>
            <a:endParaRPr kumimoji="0" lang="en-US" sz="1588" b="1" i="0" u="none" strike="noStrike" kern="1200" cap="none" spc="0" normalizeH="0" baseline="0" noProof="0" dirty="0">
              <a:ln>
                <a:noFill/>
              </a:ln>
              <a:solidFill>
                <a:srgbClr val="003963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FE43D-A66E-40FB-77C4-716CBFACB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24" y="-58830"/>
            <a:ext cx="2365376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297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183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83F5F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236848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/>
          <p:cNvSpPr/>
          <p:nvPr/>
        </p:nvSpPr>
        <p:spPr>
          <a:xfrm>
            <a:off x="-16193" y="0"/>
            <a:ext cx="12208193" cy="878541"/>
          </a:xfrm>
          <a:prstGeom prst="flowChartProcess">
            <a:avLst/>
          </a:prstGeom>
          <a:solidFill>
            <a:srgbClr val="F8B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8071" y="1374938"/>
          <a:ext cx="11075857" cy="4040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04">
                  <a:extLst>
                    <a:ext uri="{9D8B030D-6E8A-4147-A177-3AD203B41FA5}">
                      <a16:colId xmlns:a16="http://schemas.microsoft.com/office/drawing/2014/main" val="252941413"/>
                    </a:ext>
                  </a:extLst>
                </a:gridCol>
                <a:gridCol w="314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043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Be</a:t>
                      </a:r>
                      <a:r>
                        <a:rPr lang="en-US" sz="1200" baseline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Prepared to Answer the Following:</a:t>
                      </a:r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Notes: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43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Do you know what is expected of you?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82809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are your two most important recent outcomes / results</a:t>
                      </a: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support do you need to accomplish your goals?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9368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is the status of your goals?</a:t>
                      </a:r>
                    </a:p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On Track / Off Track?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How have you demonstrated the four Core Behaviors?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73896"/>
                  </a:ext>
                </a:extLst>
              </a:tr>
              <a:tr h="26417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Additional Notes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05648"/>
                  </a:ext>
                </a:extLst>
              </a:tr>
              <a:tr h="708864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 dirty="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369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75834" y="150815"/>
            <a:ext cx="10635187" cy="651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4236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071" y="1009706"/>
            <a:ext cx="6060375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Employee Name: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523" y="6433498"/>
            <a:ext cx="1030895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this document to drive your quarterly check-in conversations each year. Best Practice is to complete the check-in in Workday by using the “Add Topic” feature. Alternatively, this template can be attached to the Workday Check-in or Annual Performance Review.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246" y="993375"/>
            <a:ext cx="3463378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Date: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FE43D-A66E-40FB-77C4-716CBFACB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24" y="-58830"/>
            <a:ext cx="2365376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297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183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83F5F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465967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/>
          <p:cNvSpPr/>
          <p:nvPr/>
        </p:nvSpPr>
        <p:spPr>
          <a:xfrm>
            <a:off x="-16193" y="0"/>
            <a:ext cx="12208193" cy="878541"/>
          </a:xfrm>
          <a:prstGeom prst="flowChartProcess">
            <a:avLst/>
          </a:prstGeom>
          <a:solidFill>
            <a:srgbClr val="F8B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8071" y="1374938"/>
          <a:ext cx="11075857" cy="4040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04">
                  <a:extLst>
                    <a:ext uri="{9D8B030D-6E8A-4147-A177-3AD203B41FA5}">
                      <a16:colId xmlns:a16="http://schemas.microsoft.com/office/drawing/2014/main" val="252941413"/>
                    </a:ext>
                  </a:extLst>
                </a:gridCol>
                <a:gridCol w="314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043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Be</a:t>
                      </a:r>
                      <a:r>
                        <a:rPr lang="en-US" sz="1200" baseline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Prepared to Answer the Following:</a:t>
                      </a:r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Notes: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43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Do you know what is expected of you?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82809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are your two most important recent outcomes / results</a:t>
                      </a: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support do you need to accomplish your goals?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9368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is the status of your goals?</a:t>
                      </a:r>
                    </a:p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On Track / Off Track?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How have you demonstrated the four Core Behaviors?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73896"/>
                  </a:ext>
                </a:extLst>
              </a:tr>
              <a:tr h="26417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Additional Notes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05648"/>
                  </a:ext>
                </a:extLst>
              </a:tr>
              <a:tr h="708864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 dirty="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369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75834" y="150815"/>
            <a:ext cx="10635187" cy="651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4236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071" y="1009706"/>
            <a:ext cx="6060375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Employee Name: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523" y="6433498"/>
            <a:ext cx="1030895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this document to drive your quarterly check-in conversations each year. Best Practice is to complete the check-in in Workday by using the “Add Topic” feature. Alternatively, this template can be attached to the Workday Check-in or Annual Performance Review.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246" y="993375"/>
            <a:ext cx="3463378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Date: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FE43D-A66E-40FB-77C4-716CBFACB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24" y="-58830"/>
            <a:ext cx="2365376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297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183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83F5F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18122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/>
          <p:cNvSpPr/>
          <p:nvPr/>
        </p:nvSpPr>
        <p:spPr>
          <a:xfrm>
            <a:off x="-16193" y="0"/>
            <a:ext cx="12208193" cy="878541"/>
          </a:xfrm>
          <a:prstGeom prst="flowChartProcess">
            <a:avLst/>
          </a:prstGeom>
          <a:solidFill>
            <a:srgbClr val="F8B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8071" y="1374938"/>
          <a:ext cx="11075857" cy="4040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04">
                  <a:extLst>
                    <a:ext uri="{9D8B030D-6E8A-4147-A177-3AD203B41FA5}">
                      <a16:colId xmlns:a16="http://schemas.microsoft.com/office/drawing/2014/main" val="252941413"/>
                    </a:ext>
                  </a:extLst>
                </a:gridCol>
                <a:gridCol w="314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043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Be</a:t>
                      </a:r>
                      <a:r>
                        <a:rPr lang="en-US" sz="1200" baseline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Prepared to Answer the Following:</a:t>
                      </a:r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Notes: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43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Do you know what is expected of you?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82809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are your two most important recent outcomes / results</a:t>
                      </a: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support do you need to accomplish your goals?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9368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is the status of your goals?</a:t>
                      </a:r>
                    </a:p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On Track / Off Track?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How have you demonstrated the four Core Behaviors?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73896"/>
                  </a:ext>
                </a:extLst>
              </a:tr>
              <a:tr h="26417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Additional Notes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05648"/>
                  </a:ext>
                </a:extLst>
              </a:tr>
              <a:tr h="708864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 dirty="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369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75834" y="150815"/>
            <a:ext cx="10635187" cy="651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4236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071" y="1009706"/>
            <a:ext cx="6060375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Employee Name: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523" y="6433498"/>
            <a:ext cx="1030895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this document to drive your quarterly check-in conversations each year. Best Practice is to complete the check-in in Workday by using the “Add Topic” feature. Alternatively, this template can be attached to the Workday Check-in or Annual Performance Review.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246" y="993375"/>
            <a:ext cx="3463378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Date: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FE43D-A66E-40FB-77C4-716CBFACB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24" y="-58830"/>
            <a:ext cx="2365376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297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183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83F5F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674186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/>
          <p:cNvSpPr/>
          <p:nvPr/>
        </p:nvSpPr>
        <p:spPr>
          <a:xfrm>
            <a:off x="-16193" y="0"/>
            <a:ext cx="12208193" cy="878541"/>
          </a:xfrm>
          <a:prstGeom prst="flowChartProcess">
            <a:avLst/>
          </a:prstGeom>
          <a:solidFill>
            <a:srgbClr val="F8B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8071" y="1374938"/>
          <a:ext cx="11075857" cy="4040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04">
                  <a:extLst>
                    <a:ext uri="{9D8B030D-6E8A-4147-A177-3AD203B41FA5}">
                      <a16:colId xmlns:a16="http://schemas.microsoft.com/office/drawing/2014/main" val="252941413"/>
                    </a:ext>
                  </a:extLst>
                </a:gridCol>
                <a:gridCol w="314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043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Be</a:t>
                      </a:r>
                      <a:r>
                        <a:rPr lang="en-US" sz="1200" baseline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Prepared to Answer the Following:</a:t>
                      </a:r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Notes: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43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Do you know what is expected of you?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82809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are your two most important recent outcomes / results</a:t>
                      </a: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support do you need to accomplish your goals?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9368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is the status of your goals?</a:t>
                      </a:r>
                    </a:p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On Track / Off Track?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How have you demonstrated the four Core Behaviors?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73896"/>
                  </a:ext>
                </a:extLst>
              </a:tr>
              <a:tr h="26417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Additional Notes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05648"/>
                  </a:ext>
                </a:extLst>
              </a:tr>
              <a:tr h="708864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 dirty="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369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75834" y="150815"/>
            <a:ext cx="10635187" cy="651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4236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071" y="1009706"/>
            <a:ext cx="6060375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Employee Name: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523" y="6433498"/>
            <a:ext cx="1030895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this document to drive your quarterly check-in conversations each year. Best Practice is to complete the check-in in Workday by using the “Add Topic” feature. Alternatively, this template can be attached to the Workday Check-in or Annual Performance Review.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246" y="993375"/>
            <a:ext cx="3463378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Date: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FE43D-A66E-40FB-77C4-716CBFACB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24" y="-58830"/>
            <a:ext cx="2365376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297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183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83F5F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785118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/>
          <p:cNvSpPr/>
          <p:nvPr/>
        </p:nvSpPr>
        <p:spPr>
          <a:xfrm>
            <a:off x="-16193" y="0"/>
            <a:ext cx="12208193" cy="878541"/>
          </a:xfrm>
          <a:prstGeom prst="flowChartProcess">
            <a:avLst/>
          </a:prstGeom>
          <a:solidFill>
            <a:srgbClr val="F8B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8071" y="1374938"/>
          <a:ext cx="11075857" cy="4040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04">
                  <a:extLst>
                    <a:ext uri="{9D8B030D-6E8A-4147-A177-3AD203B41FA5}">
                      <a16:colId xmlns:a16="http://schemas.microsoft.com/office/drawing/2014/main" val="252941413"/>
                    </a:ext>
                  </a:extLst>
                </a:gridCol>
                <a:gridCol w="314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043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Be</a:t>
                      </a:r>
                      <a:r>
                        <a:rPr lang="en-US" sz="1200" baseline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Prepared to Answer the Following:</a:t>
                      </a:r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Notes: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43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Do you know what is expected of you?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82809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are your two most important recent outcomes / results</a:t>
                      </a: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support do you need to accomplish your goals?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9368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is the status of your goals?</a:t>
                      </a:r>
                    </a:p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On Track / Off Track?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How have you demonstrated the four Core Behaviors?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73896"/>
                  </a:ext>
                </a:extLst>
              </a:tr>
              <a:tr h="26417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Additional Notes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05648"/>
                  </a:ext>
                </a:extLst>
              </a:tr>
              <a:tr h="708864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 dirty="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369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75834" y="150815"/>
            <a:ext cx="10635187" cy="651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4236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071" y="1009706"/>
            <a:ext cx="6060375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Employee Name: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523" y="6433498"/>
            <a:ext cx="1030895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this document to drive your quarterly check-in conversations each year. Best Practice is to complete the check-in in Workday by using the “Add Topic” feature. Alternatively, this template can be attached to the Workday Check-in or Annual Performance Review.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246" y="993375"/>
            <a:ext cx="3463378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Date: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FE43D-A66E-40FB-77C4-716CBFACB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24" y="-58830"/>
            <a:ext cx="2365376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297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183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83F5F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494674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/>
          <p:cNvSpPr/>
          <p:nvPr/>
        </p:nvSpPr>
        <p:spPr>
          <a:xfrm>
            <a:off x="-16193" y="0"/>
            <a:ext cx="12208193" cy="878541"/>
          </a:xfrm>
          <a:prstGeom prst="flowChartProcess">
            <a:avLst/>
          </a:prstGeom>
          <a:solidFill>
            <a:srgbClr val="F8B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8071" y="1374938"/>
          <a:ext cx="11075857" cy="4040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04">
                  <a:extLst>
                    <a:ext uri="{9D8B030D-6E8A-4147-A177-3AD203B41FA5}">
                      <a16:colId xmlns:a16="http://schemas.microsoft.com/office/drawing/2014/main" val="252941413"/>
                    </a:ext>
                  </a:extLst>
                </a:gridCol>
                <a:gridCol w="3148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043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Be</a:t>
                      </a:r>
                      <a:r>
                        <a:rPr lang="en-US" sz="1200" baseline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Prepared to Answer the Following:</a:t>
                      </a:r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Notes: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43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Do you know what is expected of you?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82809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are your two most important recent outcomes / results</a:t>
                      </a: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support do you need to accomplish your goals?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9368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is the status of your goals?</a:t>
                      </a:r>
                    </a:p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On Track / Off Track?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How have you demonstrated the four Core Behaviors?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73896"/>
                  </a:ext>
                </a:extLst>
              </a:tr>
              <a:tr h="26417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Additional Notes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05648"/>
                  </a:ext>
                </a:extLst>
              </a:tr>
              <a:tr h="708864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 dirty="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369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75834" y="150815"/>
            <a:ext cx="10635187" cy="651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4236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071" y="1009706"/>
            <a:ext cx="6060375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Employee Name: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523" y="6433498"/>
            <a:ext cx="1030895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this document to drive your quarterly check-in conversations each year. Best Practice is to complete the check-in in Workday by using the “Add Topic” feature. Alternatively, this template can be attached to the Workday Check-in or Annual Performance Review.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246" y="993375"/>
            <a:ext cx="3463378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Date: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FE43D-A66E-40FB-77C4-716CBFACB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24" y="-58830"/>
            <a:ext cx="2365376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297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183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83F5F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70213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/>
          <p:cNvSpPr/>
          <p:nvPr/>
        </p:nvSpPr>
        <p:spPr>
          <a:xfrm>
            <a:off x="-16193" y="0"/>
            <a:ext cx="12208193" cy="878541"/>
          </a:xfrm>
          <a:prstGeom prst="flowChartProcess">
            <a:avLst/>
          </a:prstGeom>
          <a:solidFill>
            <a:srgbClr val="F8B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58071" y="1374938"/>
          <a:ext cx="11075857" cy="4949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303">
                  <a:extLst>
                    <a:ext uri="{9D8B030D-6E8A-4147-A177-3AD203B41FA5}">
                      <a16:colId xmlns:a16="http://schemas.microsoft.com/office/drawing/2014/main" val="252941413"/>
                    </a:ext>
                  </a:extLst>
                </a:gridCol>
                <a:gridCol w="3145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043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Be</a:t>
                      </a:r>
                      <a:r>
                        <a:rPr lang="en-US" sz="1200" baseline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Prepared to Answer the Following:</a:t>
                      </a:r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Notes: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43">
                <a:tc rowSpan="5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Do you know what is expected of you?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82809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are your two most important recent outcomes / results</a:t>
                      </a:r>
                      <a:r>
                        <a:rPr lang="en-US" sz="1200" b="1" baseline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support do you need to accomplish your goals?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9368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is the status of your goals?</a:t>
                      </a:r>
                    </a:p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On Track / Off Track?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vert="vert27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How have you demonstrated the four Core Behaviors?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043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Development</a:t>
                      </a:r>
                    </a:p>
                  </a:txBody>
                  <a:tcPr marL="88751" marR="88751" marT="44375" marB="44375"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do you enjoy most about your work?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759548"/>
                  </a:ext>
                </a:extLst>
              </a:tr>
              <a:tr h="357631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are your career aspirations?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73896"/>
                  </a:ext>
                </a:extLst>
              </a:tr>
              <a:tr h="442043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help do you need to meet your career goals?</a:t>
                      </a: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31264"/>
                  </a:ext>
                </a:extLst>
              </a:tr>
              <a:tr h="26417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Additional Notes</a:t>
                      </a:r>
                    </a:p>
                  </a:txBody>
                  <a:tcPr marL="88751" marR="88751" marT="44375" marB="443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905648"/>
                  </a:ext>
                </a:extLst>
              </a:tr>
              <a:tr h="708864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 dirty="0">
                        <a:solidFill>
                          <a:srgbClr val="575757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rgbClr val="57575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51" marR="88751" marT="44375" marB="44375" anchor="ctr">
                    <a:solidFill>
                      <a:srgbClr val="EB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369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75834" y="150815"/>
            <a:ext cx="10635187" cy="651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4236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071" y="1009706"/>
            <a:ext cx="6060375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Employee Name: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523" y="6433498"/>
            <a:ext cx="1030895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this document to drive your quarterly check-in conversations each year. Best Practice is to complete the check-in in Workday by using the “Add Topic” feature. Alternatively, this template can be attached to the Workday Check-in or Annual Performance Review.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246" y="993375"/>
            <a:ext cx="3463378" cy="244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1588" b="1" i="0" u="none" strike="noStrike" kern="1200" cap="none" spc="0" normalizeH="0" baseline="0" noProof="0" dirty="0">
                <a:ln>
                  <a:noFill/>
                </a:ln>
                <a:solidFill>
                  <a:srgbClr val="003963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 Date: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FE43D-A66E-40FB-77C4-716CBFACB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24" y="-58830"/>
            <a:ext cx="2365376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297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183F5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183F5F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287667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Custom 1">
      <a:dk1>
        <a:srgbClr val="003963"/>
      </a:dk1>
      <a:lt1>
        <a:sysClr val="window" lastClr="FFFFFF"/>
      </a:lt1>
      <a:dk2>
        <a:srgbClr val="008DD1"/>
      </a:dk2>
      <a:lt2>
        <a:srgbClr val="006D41"/>
      </a:lt2>
      <a:accent1>
        <a:srgbClr val="00A2E2"/>
      </a:accent1>
      <a:accent2>
        <a:srgbClr val="18AF60"/>
      </a:accent2>
      <a:accent3>
        <a:srgbClr val="9CD5BA"/>
      </a:accent3>
      <a:accent4>
        <a:srgbClr val="F7987D"/>
      </a:accent4>
      <a:accent5>
        <a:srgbClr val="FAC4B3"/>
      </a:accent5>
      <a:accent6>
        <a:srgbClr val="FFF689"/>
      </a:accent6>
      <a:hlink>
        <a:srgbClr val="003963"/>
      </a:hlink>
      <a:folHlink>
        <a:srgbClr val="008DD1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1E7B5D849F924AA087A2CEDEF97382" ma:contentTypeVersion="32" ma:contentTypeDescription="Create a new document." ma:contentTypeScope="" ma:versionID="033cf3e5dddbef2b2c6be3f2e4adc40f">
  <xsd:schema xmlns:xsd="http://www.w3.org/2001/XMLSchema" xmlns:xs="http://www.w3.org/2001/XMLSchema" xmlns:p="http://schemas.microsoft.com/office/2006/metadata/properties" xmlns:ns2="975623d9-b402-4d5d-93ad-3794de7d17b7" xmlns:ns3="73df3aed-cd60-4586-958f-6304381b80a3" targetNamespace="http://schemas.microsoft.com/office/2006/metadata/properties" ma:root="true" ma:fieldsID="2f38c5a600e5c9a930c99e909fcbce99" ns2:_="" ns3:_="">
    <xsd:import namespace="975623d9-b402-4d5d-93ad-3794de7d17b7"/>
    <xsd:import namespace="73df3aed-cd60-4586-958f-6304381b80a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623d9-b402-4d5d-93ad-3794de7d17b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df3aed-cd60-4586-958f-6304381b8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75623d9-b402-4d5d-93ad-3794de7d17b7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76FC1EA6-B018-4133-8BEA-EAF38869BEE9}"/>
</file>

<file path=customXml/itemProps2.xml><?xml version="1.0" encoding="utf-8"?>
<ds:datastoreItem xmlns:ds="http://schemas.openxmlformats.org/officeDocument/2006/customXml" ds:itemID="{24226D99-A687-4B7E-A688-45AFCF9280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4F1D70-FD2B-4A47-A183-D168DEE4C460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975623d9-b402-4d5d-93ad-3794de7d17b7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8f0574-adf0-4820-ab8e-62198bfae84d}" enabled="1" method="Privileged" siteId="{c57d1a73-0e5c-464b-afb7-086dc67f3d4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1211</Words>
  <Application>Microsoft Office PowerPoint</Application>
  <PresentationFormat>Widescreen</PresentationFormat>
  <Paragraphs>143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Highmark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Lauricella, Alexandra M (Highmark Health)</dc:creator>
  <cp:lastModifiedBy>McConnell, Robert J (enGen)</cp:lastModifiedBy>
  <cp:revision>84</cp:revision>
  <dcterms:created xsi:type="dcterms:W3CDTF">2023-03-29T15:33:17Z</dcterms:created>
  <dcterms:modified xsi:type="dcterms:W3CDTF">2025-12-08T15:59:18Z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0x0101006E1E7B5D849F924AA087A2CEDEF97382</vt:lpwstr>
  </property>
  <property fmtid="{D5CDD505-2E9C-101B-9397-08002B2CF9AE}" pid="3" name="xd_ProgID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GUID">
    <vt:lpwstr>cb07382e-e13d-48e9-ae56-d1c577ecc4bf</vt:lpwstr>
  </property>
  <property fmtid="{D5CDD505-2E9C-101B-9397-08002B2CF9AE}" pid="11" name="xd_Signature">
    <vt:bool>false</vt:bool>
  </property>
</Properties>
</file>