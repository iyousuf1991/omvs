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https://aws.amazon.com/mainframe-modernization/
- https://azure.microsoft.com/solutions/migration/mainframe
- https://learn.microsoft.com/azure/architecture/example-scenario/mainframe/micro-focus-server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https://www.softwareag.com/en/adabas-natural/linux-cloud/ (Natural/Adabas on Linux &amp; cloud options)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https://aws.amazon.com/mainframe-modernization/
- https://docs.aws.amazon.com/m2/latest/userguide/what-is-m2.html
- https://aws.amazon.com/blogs/apn/deploying-software-ag-adabas-and-natural-workloads-on-aws/
- https://docs.aws.amazon.com/prescriptive-guidance/latest/patterns/migrate-and-replicate-vsam-files-to-amazon-rds-or-amazon-msk-using-connect-from-precisely.html
- https://aws.amazon.com/blogs/migration-and-modernization/integration-architectures-between-mainframe-and-aws-for-coexistence/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https://learn.microsoft.com/azure/architecture/example-scenario/mainframe/micro-focus-server
- https://azure.microsoft.com/solutions/migration/mainframe
- https://www.softwareag.com/en/adabas-natural/linux-cloud/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https://aws.amazon.com/mainframe-modernization/
- https://docs.aws.amazon.com/m2/latest/userguide/what-is-m2.html
- https://aws.amazon.com/blogs/aws/modernize-your-mainframe-applications-deploy-them-in-the-cloud/
- https://learn.microsoft.com/azure/architecture/example-scenario/mainframe/micro-focus-server
- https://www.softwareag.com/en/adabas-natural/linux-cloud/
- https://docs.aws.amazon.com/prescriptive-guidance/latest/patterns/migrate-and-replicate-vsam-files-to-amazon-rds-or-amazon-msk-using-connect-from-precisely.html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https://aws.amazon.com/mainframe-modernization/
- https://learn.microsoft.com/azure/architecture/example-scenario/mainframe/micro-focus-server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https://aws.amazon.com/blogs/migration-and-modernization/integration-architectures-between-mainframe-and-aws-for-coexistence/
- https://learn.microsoft.com/azure/architecture/example-scenario/mainframe/micro-focus-server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https://docs.aws.amazon.com/m2/latest/userguide/what-is-m2.html
- https://learn.microsoft.com/azure/architecture/example-scenario/mainframe/micro-focus-server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D4D"/>
          </a:solidFill>
          <a:ln w="12700">
            <a:solidFill>
              <a:srgbClr val="0B2D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463040"/>
            <a:ext cx="106984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88720" y="182880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Mainframe Modernization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26060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“As-Is” and Target Cloud Architectures (AWS or Azure)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31546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highlights: Natural/ADABAS, COBOL, VSAM, CA 7, CA Top Secret (Illustrative)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3886200"/>
            <a:ext cx="9784080" cy="18288"/>
          </a:xfrm>
          <a:prstGeom prst="rect">
            <a:avLst/>
          </a:prstGeom>
          <a:solidFill>
            <a:srgbClr val="E3E9F2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02336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as a starting point; tailor with ARC’s non-functional requirements, volumes, SLAs, and security/compliance constraints.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475488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D4D"/>
          </a:solidFill>
          <a:ln w="12700">
            <a:solidFill>
              <a:srgbClr val="0B2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(As‑Is) Architecture – Mainframe‑Centric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view based on stated technologies; validate actual subsystems and interfaces with ARC SMEs.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1556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43000"/>
            <a:ext cx="3108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143000"/>
            <a:ext cx="3108960" cy="310896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9786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Channels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45336"/>
            <a:ext cx="27889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agencies / partners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file feeds (SFTP/FT)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transaction access (e.g., 3270/web)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consumers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697480"/>
            <a:ext cx="31089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697480"/>
            <a:ext cx="3108960" cy="310896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5234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/ Connectivity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099816"/>
            <a:ext cx="27889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/ messaging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 gateways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perimeter / firewall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tooling &amp; monitoring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1143000"/>
            <a:ext cx="3886200" cy="4343400"/>
          </a:xfrm>
          <a:prstGeom prst="roundRect">
            <a:avLst/>
          </a:prstGeom>
          <a:solidFill>
            <a:srgbClr val="FAFCFF"/>
          </a:solidFill>
          <a:ln w="25400">
            <a:solidFill>
              <a:srgbClr val="7FA0B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43400" y="12344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z/OS Mainframe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43400" y="1572768"/>
            <a:ext cx="2834640" cy="256032"/>
          </a:xfrm>
          <a:prstGeom prst="roundRect">
            <a:avLst/>
          </a:prstGeom>
          <a:solidFill>
            <a:srgbClr val="E9F2FB"/>
          </a:solidFill>
          <a:ln w="12700">
            <a:solidFill>
              <a:srgbClr val="E9F2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1618488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runtime &amp;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1874520"/>
            <a:ext cx="3520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874520"/>
            <a:ext cx="3520440" cy="310896"/>
          </a:xfrm>
          <a:prstGeom prst="roundRect">
            <a:avLst/>
          </a:prstGeom>
          <a:solidFill>
            <a:srgbClr val="E9F2FB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92938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6280" y="2276856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programs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applications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+ batch workloads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43400" y="3063240"/>
            <a:ext cx="1691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3400" y="3063240"/>
            <a:ext cx="1691640" cy="310896"/>
          </a:xfrm>
          <a:prstGeom prst="roundRect">
            <a:avLst/>
          </a:prstGeom>
          <a:solidFill>
            <a:srgbClr val="E9F2FB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11810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26280" y="3465576"/>
            <a:ext cx="1371600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ADABAS 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VSAM files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3063240"/>
            <a:ext cx="1691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3063240"/>
            <a:ext cx="1691640" cy="310896"/>
          </a:xfrm>
          <a:prstGeom prst="roundRect">
            <a:avLst/>
          </a:prstGeom>
          <a:solidFill>
            <a:srgbClr val="E9F2FB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11810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3465576"/>
            <a:ext cx="1371600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(scheduling)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JCL jobs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windows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43400" y="4297680"/>
            <a:ext cx="3520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43400" y="4297680"/>
            <a:ext cx="3520440" cy="310896"/>
          </a:xfrm>
          <a:prstGeom prst="roundRect">
            <a:avLst/>
          </a:prstGeom>
          <a:solidFill>
            <a:srgbClr val="E9F2FB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435254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26280" y="4700016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Top Secret (RACF‑like)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75320" y="114300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75320" y="1143000"/>
            <a:ext cx="3154680" cy="310896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1197864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58200" y="1545336"/>
            <a:ext cx="283464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Customer/service apps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portals / APIs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data stores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75320" y="2697480"/>
            <a:ext cx="31546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75320" y="2697480"/>
            <a:ext cx="3154680" cy="310896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2752344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/ Analytics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58200" y="3099816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extracts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/ BI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275320" y="416052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275320" y="4160520"/>
            <a:ext cx="3154680" cy="310896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4215384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458200" y="4562856"/>
            <a:ext cx="283464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Incident/change mgmt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&amp; DR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886200" y="1847088"/>
            <a:ext cx="274320" cy="0"/>
          </a:xfrm>
          <a:prstGeom prst="line">
            <a:avLst/>
          </a:prstGeom>
          <a:noFill/>
          <a:ln w="2540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046720" y="1847088"/>
            <a:ext cx="228600" cy="0"/>
          </a:xfrm>
          <a:prstGeom prst="line">
            <a:avLst/>
          </a:prstGeom>
          <a:noFill/>
          <a:ln w="2540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886200" y="3383280"/>
            <a:ext cx="274320" cy="0"/>
          </a:xfrm>
          <a:prstGeom prst="line">
            <a:avLst/>
          </a:prstGeom>
          <a:noFill/>
          <a:ln w="2540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046720" y="3383280"/>
            <a:ext cx="228600" cy="0"/>
          </a:xfrm>
          <a:prstGeom prst="line">
            <a:avLst/>
          </a:prstGeom>
          <a:noFill/>
          <a:ln w="2540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6FA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| Sample Architecture (Illustrative)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D4D"/>
          </a:solidFill>
          <a:ln w="12700">
            <a:solidFill>
              <a:srgbClr val="0B2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 (Option A) – AWS: Rehost + Incremental Modernization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Near-term: rehost legacy runtime; mid/long-term: progressively refactor to cloud-native services.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15568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43000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36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143000"/>
            <a:ext cx="3291840" cy="310896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2B3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97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Landing Zone / Networking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45336"/>
            <a:ext cx="297180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Multi-account (prod/non-prod)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VPCs + private subnets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Gateway / VPN/Direct Connect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logging + guardrails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143000"/>
            <a:ext cx="3703320" cy="4343400"/>
          </a:xfrm>
          <a:prstGeom prst="roundRect">
            <a:avLst/>
          </a:prstGeom>
          <a:solidFill>
            <a:srgbClr val="FFFEFC"/>
          </a:solidFill>
          <a:ln w="25400">
            <a:solidFill>
              <a:srgbClr val="F2B36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2344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Runtime Modernized on AWS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26280" y="1572768"/>
            <a:ext cx="3063240" cy="256032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618488"/>
            <a:ext cx="2843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rehost lane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187452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36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1874520"/>
            <a:ext cx="3337560" cy="310896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2B3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929384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 runtime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2276856"/>
            <a:ext cx="301752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Mainframe Modernization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partner runtime (Rocket)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COBOL/JCL + online + batch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3200400"/>
            <a:ext cx="1627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36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26280" y="3200400"/>
            <a:ext cx="1627632" cy="310896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2B3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255264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(rehost)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3602736"/>
            <a:ext cx="130759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Adabas &amp; Natural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Linux)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VSAM emulation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36208" y="3200400"/>
            <a:ext cx="1627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36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6208" y="3200400"/>
            <a:ext cx="1627632" cy="310896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2B3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3255264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control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19088" y="3602736"/>
            <a:ext cx="130759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Airflow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4434840"/>
            <a:ext cx="33375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36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6280" y="4434840"/>
            <a:ext cx="3337560" cy="310896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2B3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489704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4837176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/ IAM Identity Center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+ Secrets Manager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audit trails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75320" y="114300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C88C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75320" y="1143000"/>
            <a:ext cx="3154680" cy="310896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7BC8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1197864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Integration Layer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58200" y="1545336"/>
            <a:ext cx="283464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VPC endpoints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SQS/SNS or MSK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file transfer (S3)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75320" y="269748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C88C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75320" y="2697480"/>
            <a:ext cx="3154680" cy="310896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7BC8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2752344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(target)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58200" y="3099816"/>
            <a:ext cx="283464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 lake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PostgreSQL/SQL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/ Athena / Redshift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/ CDC pipelines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75320" y="425196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C88C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75320" y="4251960"/>
            <a:ext cx="3154680" cy="310896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7BC8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4306824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Ops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58200" y="4654296"/>
            <a:ext cx="283464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X-Ray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Backup/DR patterns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+ CI/CD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069080" y="1847088"/>
            <a:ext cx="274320" cy="0"/>
          </a:xfrm>
          <a:prstGeom prst="line">
            <a:avLst/>
          </a:prstGeom>
          <a:noFill/>
          <a:ln w="2540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046720" y="1847088"/>
            <a:ext cx="228600" cy="0"/>
          </a:xfrm>
          <a:prstGeom prst="line">
            <a:avLst/>
          </a:prstGeom>
          <a:noFill/>
          <a:ln w="2540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046720" y="3401568"/>
            <a:ext cx="228600" cy="0"/>
          </a:xfrm>
          <a:prstGeom prst="line">
            <a:avLst/>
          </a:prstGeom>
          <a:noFill/>
          <a:ln w="2540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77240" y="2788920"/>
            <a:ext cx="3291840" cy="26517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2880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Hybrid/Coexistence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(during transition)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60120" y="324612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some workloads on-prem temporarily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Replicate data (CDC)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Strangle-pattern APIs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run + cutover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6FA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| Sample Architecture (Illustrative)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D4D"/>
          </a:solidFill>
          <a:ln w="12700">
            <a:solidFill>
              <a:srgbClr val="0B2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 (Option B) – Azure: Rehost + Incremental Modernization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Azure reference approach using partner runtimes and Azure-native integration/data services.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15568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43000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A6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143000"/>
            <a:ext cx="3291840" cy="310896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6A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97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Landing Zone / Networking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45336"/>
            <a:ext cx="297180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groups + subscriptions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VNets + private endpoints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ExpressRoute / VPN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logging, guardrails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143000"/>
            <a:ext cx="3703320" cy="4343400"/>
          </a:xfrm>
          <a:prstGeom prst="roundRect">
            <a:avLst/>
          </a:prstGeom>
          <a:solidFill>
            <a:srgbClr val="FBFDFF"/>
          </a:solidFill>
          <a:ln w="25400">
            <a:solidFill>
              <a:srgbClr val="6AA6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2344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Runtime Modernized on Azure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26280" y="1572768"/>
            <a:ext cx="2971800" cy="256032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618488"/>
            <a:ext cx="2752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rehost lane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187452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A6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1874520"/>
            <a:ext cx="3337560" cy="310896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6A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929384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 runtime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2276856"/>
            <a:ext cx="301752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Focus Enterprise 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other partner runtime)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COBOL/JCL + online + batch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3200400"/>
            <a:ext cx="1627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A6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26280" y="3200400"/>
            <a:ext cx="1627632" cy="310896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6A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255264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(rehost)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3602736"/>
            <a:ext cx="130759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Adabas &amp; Natural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Linux VMs)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VSAM emulation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36208" y="3200400"/>
            <a:ext cx="1627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A6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6208" y="3200400"/>
            <a:ext cx="1627632" cy="310896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6A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3255264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control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19088" y="3602736"/>
            <a:ext cx="130759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(pipelines)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4434840"/>
            <a:ext cx="33375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A6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6280" y="4434840"/>
            <a:ext cx="3337560" cy="310896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6A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489704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4837176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logs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75320" y="114300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C88C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75320" y="1143000"/>
            <a:ext cx="3154680" cy="310896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7BC8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1197864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Integration Layer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58200" y="1545336"/>
            <a:ext cx="283464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/ Event Grid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to Blob/Data Lake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75320" y="269748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C88C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75320" y="2697480"/>
            <a:ext cx="3154680" cy="310896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7BC8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2752344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(target)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58200" y="3099816"/>
            <a:ext cx="283464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 data lake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/ PostgreSQL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/ Fabric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via Data Factory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75320" y="425196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C88C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75320" y="4251960"/>
            <a:ext cx="3154680" cy="310896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7BC8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4306824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Ops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58200" y="4654296"/>
            <a:ext cx="283464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+ App Insights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Backup/DR patterns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+ CI/CD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069080" y="1847088"/>
            <a:ext cx="274320" cy="0"/>
          </a:xfrm>
          <a:prstGeom prst="line">
            <a:avLst/>
          </a:prstGeom>
          <a:noFill/>
          <a:ln w="2540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046720" y="1847088"/>
            <a:ext cx="228600" cy="0"/>
          </a:xfrm>
          <a:prstGeom prst="line">
            <a:avLst/>
          </a:prstGeom>
          <a:noFill/>
          <a:ln w="2540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046720" y="3401568"/>
            <a:ext cx="228600" cy="0"/>
          </a:xfrm>
          <a:prstGeom prst="line">
            <a:avLst/>
          </a:prstGeom>
          <a:noFill/>
          <a:ln w="2540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77240" y="2788920"/>
            <a:ext cx="3291840" cy="26517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2880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Hybrid/Coexistence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(during transition)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60120" y="324612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some workloads on-prem temporarily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Replicate data (CDC)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Incremental API façade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run + cutover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6FA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| Sample Architecture (Illustrative)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D4D"/>
          </a:solidFill>
          <a:ln w="12700">
            <a:solidFill>
              <a:srgbClr val="0B2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As‑Is Technology to Cloud Replacement (Illustrative)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lane per component: rehost (fastest), replatform, or refactor/replace (best long-term).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1556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43000"/>
            <a:ext cx="10652760" cy="411480"/>
          </a:xfrm>
          <a:prstGeom prst="rect">
            <a:avLst/>
          </a:prstGeom>
          <a:solidFill>
            <a:srgbClr val="0B2D4D"/>
          </a:solidFill>
          <a:ln w="12700">
            <a:solidFill>
              <a:srgbClr val="0B2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161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As‑Is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54680" y="12161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role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0760" y="12161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replacement (sample)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66760" y="121615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replacement (sample)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1572768"/>
            <a:ext cx="10652760" cy="841248"/>
          </a:xfrm>
          <a:prstGeom prst="rect">
            <a:avLst/>
          </a:prstGeom>
          <a:solidFill>
            <a:srgbClr val="F7F9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68249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+ ADABAS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4680" y="1682496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logic + transactional DB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1682496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Adabas/Natural on Linux (EC2) or modernize via AWS Mainframe Modernization (Blu Age) where applicable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66760" y="1682496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Adabas/Natural on Linux (Azure VMs) or refactor per Azure mainframe modernization partners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2414016"/>
            <a:ext cx="10652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52374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54680" y="252374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online transaction programs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2523744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Mainframe Modernization (replatform/rehost) or convert to Java (Blu Age)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66760" y="2523744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Focus Enterprise Server on Azure VMs or refactor to modern services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3255264"/>
            <a:ext cx="10652760" cy="841248"/>
          </a:xfrm>
          <a:prstGeom prst="rect">
            <a:avLst/>
          </a:prstGeom>
          <a:solidFill>
            <a:srgbClr val="F7F9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3649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54680" y="3364992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Indexed/sequential files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80760" y="3364992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via runtime emulation initially; migrate to Aurora/RDS or streaming (CDC) in phases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66760" y="336499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via runtime emulation initially; migrate to Azure SQL/PostgreSQL or ADLS-backed patterns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4096512"/>
            <a:ext cx="10652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20624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54680" y="420624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scheduler / batch orchestration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80760" y="420624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+ Step Functions (+ MWAA) or 3rd-party scheduler (Control‑M/Redwood)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66760" y="420624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 + Logic Apps/Durable Functions or 3rd-party scheduler (Control‑M/Redwood)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" y="4937760"/>
            <a:ext cx="10652760" cy="841248"/>
          </a:xfrm>
          <a:prstGeom prst="rect">
            <a:avLst/>
          </a:prstGeom>
          <a:solidFill>
            <a:srgbClr val="F7F9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04748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Top Secret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54680" y="504748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access control, audit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0760" y="504748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+ SSO (Identity Center) + KMS/Secrets + centralized audit (CloudTrail)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66760" y="5047488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+ RBAC + Key Vault + centralized audit (Azure Monitor/Logs)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7240" y="5806440"/>
            <a:ext cx="10652760" cy="502920"/>
          </a:xfrm>
          <a:prstGeom prst="roundRect">
            <a:avLst/>
          </a:prstGeom>
          <a:solidFill>
            <a:srgbClr val="FFFBE6"/>
          </a:solidFill>
          <a:ln w="12700">
            <a:solidFill>
              <a:srgbClr val="F2E6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5888736"/>
            <a:ext cx="10287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exact replacements depend on current subsystems (CICS/IMS/Db2?), interface patterns, batch SLAs, and licensing constraints. Validate with ARC before committing to a lane.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6FA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| Sample Architecture (Illustrative)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D4D"/>
          </a:solidFill>
          <a:ln w="12700">
            <a:solidFill>
              <a:srgbClr val="0B2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Roadmap (Typical Phasing)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parallel workstreams: platform foundations, app/runtime migration, data modernization, and decommissioning.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1556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1490472" cy="1828800"/>
          </a:xfrm>
          <a:prstGeom prst="roundRect">
            <a:avLst/>
          </a:prstGeom>
          <a:solidFill>
            <a:srgbClr val="E9F2FF"/>
          </a:solidFill>
          <a:ln w="25400">
            <a:solidFill>
              <a:srgbClr val="6AA6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1435608"/>
            <a:ext cx="1271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Discover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1801368"/>
            <a:ext cx="127101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mapping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&amp; cost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67712" y="2240280"/>
            <a:ext cx="109728" cy="0"/>
          </a:xfrm>
          <a:prstGeom prst="line">
            <a:avLst/>
          </a:prstGeom>
          <a:noFill/>
          <a:ln w="2540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77440" y="1325880"/>
            <a:ext cx="1490472" cy="1828800"/>
          </a:xfrm>
          <a:prstGeom prst="roundRect">
            <a:avLst/>
          </a:prstGeom>
          <a:solidFill>
            <a:srgbClr val="E9F2FF"/>
          </a:solidFill>
          <a:ln w="25400">
            <a:solidFill>
              <a:srgbClr val="6AA6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87168" y="1435608"/>
            <a:ext cx="1271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Foundation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87168" y="1801368"/>
            <a:ext cx="127101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baseline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67912" y="2240280"/>
            <a:ext cx="109728" cy="0"/>
          </a:xfrm>
          <a:prstGeom prst="line">
            <a:avLst/>
          </a:prstGeom>
          <a:noFill/>
          <a:ln w="2540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77640" y="1325880"/>
            <a:ext cx="1490472" cy="1828800"/>
          </a:xfrm>
          <a:prstGeom prst="roundRect">
            <a:avLst/>
          </a:prstGeom>
          <a:solidFill>
            <a:srgbClr val="FFF3E6"/>
          </a:solidFill>
          <a:ln w="25400">
            <a:solidFill>
              <a:srgbClr val="F2B36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87368" y="1435608"/>
            <a:ext cx="1271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strategy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87368" y="1801368"/>
            <a:ext cx="127101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plan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approach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Retention/audit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68112" y="2240280"/>
            <a:ext cx="109728" cy="0"/>
          </a:xfrm>
          <a:prstGeom prst="line">
            <a:avLst/>
          </a:prstGeom>
          <a:noFill/>
          <a:ln w="2540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77840" y="1325880"/>
            <a:ext cx="1490472" cy="1828800"/>
          </a:xfrm>
          <a:prstGeom prst="roundRect">
            <a:avLst/>
          </a:prstGeom>
          <a:solidFill>
            <a:srgbClr val="FFF3E6"/>
          </a:solidFill>
          <a:ln w="25400">
            <a:solidFill>
              <a:srgbClr val="F2B36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87568" y="1435608"/>
            <a:ext cx="1271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Rehost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87568" y="1801368"/>
            <a:ext cx="127101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on cloud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online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Smoke/perf tests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68312" y="2240280"/>
            <a:ext cx="109728" cy="0"/>
          </a:xfrm>
          <a:prstGeom prst="line">
            <a:avLst/>
          </a:prstGeom>
          <a:noFill/>
          <a:ln w="2540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78040" y="1325880"/>
            <a:ext cx="1490472" cy="1828800"/>
          </a:xfrm>
          <a:prstGeom prst="roundRect">
            <a:avLst/>
          </a:prstGeom>
          <a:solidFill>
            <a:srgbClr val="EAF7EE"/>
          </a:solidFill>
          <a:ln w="25400">
            <a:solidFill>
              <a:srgbClr val="7BC88C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87768" y="1435608"/>
            <a:ext cx="1271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Decouple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87768" y="1801368"/>
            <a:ext cx="127101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façade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68512" y="2240280"/>
            <a:ext cx="109728" cy="0"/>
          </a:xfrm>
          <a:prstGeom prst="line">
            <a:avLst/>
          </a:prstGeom>
          <a:noFill/>
          <a:ln w="2540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78240" y="1325880"/>
            <a:ext cx="1490472" cy="1828800"/>
          </a:xfrm>
          <a:prstGeom prst="roundRect">
            <a:avLst/>
          </a:prstGeom>
          <a:solidFill>
            <a:srgbClr val="EAF7EE"/>
          </a:solidFill>
          <a:ln w="25400">
            <a:solidFill>
              <a:srgbClr val="7BC88C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887968" y="1435608"/>
            <a:ext cx="1271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Refactor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87968" y="1801368"/>
            <a:ext cx="127101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hot paths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emulation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268712" y="2240280"/>
            <a:ext cx="109728" cy="0"/>
          </a:xfrm>
          <a:prstGeom prst="line">
            <a:avLst/>
          </a:prstGeom>
          <a:noFill/>
          <a:ln w="25400">
            <a:solidFill>
              <a:srgbClr val="6B7C8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378440" y="1325880"/>
            <a:ext cx="1490472" cy="1828800"/>
          </a:xfrm>
          <a:prstGeom prst="roundRect">
            <a:avLst/>
          </a:prstGeom>
          <a:solidFill>
            <a:srgbClr val="F7F9FC"/>
          </a:solidFill>
          <a:ln w="25400">
            <a:solidFill>
              <a:srgbClr val="9FB3C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488168" y="1435608"/>
            <a:ext cx="1271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Decommission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488168" y="1801368"/>
            <a:ext cx="127101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 exit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3429000"/>
            <a:ext cx="10652760" cy="269748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3547872"/>
            <a:ext cx="10287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workstreams (recommended)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0120" y="3867912"/>
            <a:ext cx="102870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Platform: landing zone, network segmentation, IAM/SSO, keys/secrets, logging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Runtime: mainframe rehost engine, online/batch parity testing, job scheduling replacement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Data: VSAM/Adabas strategy, CDC, reconciliation, reporting modernization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Ops: monitoring/alerting, runbooks, DR, cutover rehearsals, decommission plan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6FA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| Sample Architecture (Illustrative)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D4D"/>
          </a:solidFill>
          <a:ln w="12700">
            <a:solidFill>
              <a:srgbClr val="0B2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Considerations (What Usually Breaks Modernization Programs)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as checklist items for the ARC discovery phase.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1556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4300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143000"/>
            <a:ext cx="5303520" cy="310896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9786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&amp; data characteristics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45336"/>
            <a:ext cx="4983480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window constraints and job dependencies (CA 7/JCL)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file processing (VSAM) and sort utilities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transaction latency and concurrency needs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quality, reconciliation, and dual-run requirements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1143000"/>
            <a:ext cx="4983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B3C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143000"/>
            <a:ext cx="4983480" cy="310896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197864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compliance, and operations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545336"/>
            <a:ext cx="4663440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CA Top Secret controls to cloud IAM + PAM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(who changed what, when) and retention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key mgmt, and secrets handling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strategy: RTO/RPO alignment with business SLAs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530352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E6A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657600"/>
            <a:ext cx="5303520" cy="310896"/>
          </a:xfrm>
          <a:prstGeom prst="roundRect">
            <a:avLst/>
          </a:prstGeom>
          <a:solidFill>
            <a:srgbClr val="FFFBE6"/>
          </a:solidFill>
          <a:ln w="12700">
            <a:solidFill>
              <a:srgbClr val="F2E6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1246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delivery risks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059936"/>
            <a:ext cx="4983480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Licensing/vendor constraints for runtime engines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gaps for Natural/ADABAS transformations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data parity, batch outputs, and edge cases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rehearsals and rollback plan maturity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3657600"/>
            <a:ext cx="49834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C88C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3657600"/>
            <a:ext cx="4983480" cy="310896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7BC8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712464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/ mitigations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4059936"/>
            <a:ext cx="4663440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“thin-slice” pilot (1–2 apps + a job stream)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CDC + reconciliation dashboards early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infra-as-code and automated regression testing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coexistence strategy; retire incrementally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6FA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| Sample Architecture (Illustrative)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D4D"/>
          </a:solidFill>
          <a:ln w="12700">
            <a:solidFill>
              <a:srgbClr val="0B2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Needed to Finalize ARC’s Target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questions to drive discovery and validate the best modernization lane per subsystem.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1556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88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&amp; interfaces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Online subsystems (CICS/IMS?) and 3270 usage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Daily/weekly batch volumes; critical job streams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Number and type of interfaces (MQ, SFTP, APIs)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Peak TPS, latency SLAs, and concurrency limits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resilience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ADABAS database size, growth, and HA/DR approach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VSAM file count, record formats, sort/merge patterns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RTO/RPO targets and cross-region requirements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Reporting/analytics consumers and refresh cadence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118872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delivery constraints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1508760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 Top Secret policies to translate (roles, resources)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Encryption requirements and key ownership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controls (SOC, PCI, etc.)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Tooling preferences and enterprise standards (CI/CD, observability)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3154680"/>
            <a:ext cx="4983480" cy="3246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32918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deliverables for a first architecture pack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3703320"/>
            <a:ext cx="4617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 &amp; job-stream inventory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flow + interface diagrams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landing zone blueprint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Rehost pilot scope + success criteria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Cutover plan (parallel run, reconciliation, rollback)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3F6FA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58368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| Sample Architecture (Illustrative)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Airline Reporting Corporation (ARC)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Mainframe modernization sample architectures</dc:subject>
  <dc:creator>Generated by ChatGPT</dc:creator>
  <cp:lastModifiedBy>Generated by ChatGPT</cp:lastModifiedBy>
  <cp:revision>1</cp:revision>
  <dcterms:created xsi:type="dcterms:W3CDTF">2025-12-23T10:59:56Z</dcterms:created>
  <dcterms:modified xsi:type="dcterms:W3CDTF">2025-12-23T10:59:56Z</dcterms:modified>
</cp:coreProperties>
</file>